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embeddedFontLst>
    <p:embeddedFont>
      <p:font typeface="Unbounded"/>
      <p:regular r:id="rId201314"/>
    </p:embeddedFont>
    <p:embeddedFont>
      <p:font typeface="Manrope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Calltouch product, pricing and case data supplied with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TOUCH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exlantix.ru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5" Type="http://schemas.openxmlformats.org/officeDocument/2006/relationships/image" Target="../media/image-1-4.png"/><Relationship Id="rId6" Type="http://schemas.openxmlformats.org/officeDocument/2006/relationships/image" Target="../media/image-1-5.svg"/><Relationship Id="rId7" Type="http://schemas.openxmlformats.org/officeDocument/2006/relationships/image" Target="../media/image-1-6.png"/><Relationship Id="rId8" Type="http://schemas.openxmlformats.org/officeDocument/2006/relationships/image" Target="../media/image-1-7.svg"/><Relationship Id="rId9" Type="http://schemas.openxmlformats.org/officeDocument/2006/relationships/image" Target="../media/image-1-8.png"/><Relationship Id="rId10" Type="http://schemas.openxmlformats.org/officeDocument/2006/relationships/image" Target="../media/image-1-9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image" Target="../media/image-5-3.png"/><Relationship Id="rId5" Type="http://schemas.openxmlformats.org/officeDocument/2006/relationships/image" Target="../media/image-5-4.svg"/><Relationship Id="rId6" Type="http://schemas.openxmlformats.org/officeDocument/2006/relationships/image" Target="../media/image-5-5.png"/><Relationship Id="rId7" Type="http://schemas.openxmlformats.org/officeDocument/2006/relationships/image" Target="../media/image-5-6.svg"/><Relationship Id="rId8" Type="http://schemas.openxmlformats.org/officeDocument/2006/relationships/image" Target="../media/image-5-7.png"/><Relationship Id="rId9" Type="http://schemas.openxmlformats.org/officeDocument/2006/relationships/image" Target="../media/image-5-8.svg"/><Relationship Id="rId10" Type="http://schemas.openxmlformats.org/officeDocument/2006/relationships/image" Target="../media/image-5-9.png"/><Relationship Id="rId11" Type="http://schemas.openxmlformats.org/officeDocument/2006/relationships/image" Target="../media/image-5-10.svg"/><Relationship Id="rId12" Type="http://schemas.openxmlformats.org/officeDocument/2006/relationships/image" Target="../media/image-5-11.png"/><Relationship Id="rId13" Type="http://schemas.openxmlformats.org/officeDocument/2006/relationships/image" Target="../media/image-5-12.svg"/><Relationship Id="rId14" Type="http://schemas.openxmlformats.org/officeDocument/2006/relationships/image" Target="../media/image-5-13.png"/><Relationship Id="rId15" Type="http://schemas.openxmlformats.org/officeDocument/2006/relationships/image" Target="../media/image-5-14.svg"/><Relationship Id="rId16" Type="http://schemas.openxmlformats.org/officeDocument/2006/relationships/image" Target="../media/image-5-15.png"/><Relationship Id="rId17" Type="http://schemas.openxmlformats.org/officeDocument/2006/relationships/image" Target="../media/image-5-16.svg"/><Relationship Id="rId18" Type="http://schemas.openxmlformats.org/officeDocument/2006/relationships/image" Target="../media/image-5-17.png"/><Relationship Id="rId19" Type="http://schemas.openxmlformats.org/officeDocument/2006/relationships/image" Target="../media/image-5-18.svg"/><Relationship Id="rId20" Type="http://schemas.openxmlformats.org/officeDocument/2006/relationships/image" Target="../media/image-5-19.png"/><Relationship Id="rId21" Type="http://schemas.openxmlformats.org/officeDocument/2006/relationships/image" Target="../media/image-5-20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xlantix.ru" TargetMode="External"/><Relationship Id="rId5" Type="http://schemas.openxmlformats.org/officeDocument/2006/relationships/hyperlink" Target="https://www.calltouch.ru/blog/uvelichili-kolichestvo-kachestvennyh-lidov-v-74-raza-i-snizili-cpl-na-30-kejs-importera-jetour/" TargetMode="External"/><Relationship Id="rId7" Type="http://schemas.openxmlformats.org/officeDocument/2006/relationships/hyperlink" Target="https://www.calltouch.ru/blog/kak-zastrojshhik-integriroval-macrocrm-i-calltouch-chtoby-snizit-stoimost-lida-i-povysit-konversiyu-na-20-kejs-sz-dikkit/" TargetMode="External"/><Relationship Id="rId9" Type="http://schemas.openxmlformats.org/officeDocument/2006/relationships/hyperlink" Target="https://www.calltouch.ru/blog/kak-klinika-privlekaet-lidy-v-13-raz-deshevle-rynka-s-pomoshhyu-sistemnogo-marketinga-kejs-am-medika/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4" Type="http://schemas.openxmlformats.org/officeDocument/2006/relationships/image" Target="../media/image-6-3.png"/><Relationship Id="rId6" Type="http://schemas.openxmlformats.org/officeDocument/2006/relationships/image" Target="../media/image-6-4.png"/><Relationship Id="rId8" Type="http://schemas.openxmlformats.org/officeDocument/2006/relationships/image" Target="../media/image-6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exlantix.ru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5" Type="http://schemas.openxmlformats.org/officeDocument/2006/relationships/image" Target="../media/image-7-4.png"/><Relationship Id="rId6" Type="http://schemas.openxmlformats.org/officeDocument/2006/relationships/image" Target="../media/image-7-5.svg"/><Relationship Id="rId7" Type="http://schemas.openxmlformats.org/officeDocument/2006/relationships/image" Target="../media/image-7-6.png"/><Relationship Id="rId8" Type="http://schemas.openxmlformats.org/officeDocument/2006/relationships/image" Target="../media/image-7-7.svg"/><Relationship Id="rId9" Type="http://schemas.openxmlformats.org/officeDocument/2006/relationships/image" Target="../media/image-7-8.png"/><Relationship Id="rId10" Type="http://schemas.openxmlformats.org/officeDocument/2006/relationships/image" Target="../media/image-7-9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5" name="Shape 1">
            <a:hlinkClick r:id="rId4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13232" y="10972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22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КОММЕРЧЕСКОЕ ПРЕДЛОЖЕНИЕ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94944" y="1353312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РЕШЕНИЯ CALLTOUCH</a:t>
            </a:r>
            <a:endParaRPr lang="en-US" sz="3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ДЛЯ EXLANTIX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713232" y="26334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D6E0E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 и сквозная аналитика для контроля маркетинга и продаж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13232" y="5285232"/>
            <a:ext cx="3749040" cy="987552"/>
          </a:xfrm>
          <a:prstGeom prst="roundRect">
            <a:avLst>
              <a:gd name="adj" fmla="val 14815"/>
            </a:avLst>
          </a:prstGeom>
          <a:solidFill>
            <a:srgbClr val="222B35">
              <a:alpha val="66000"/>
            </a:srgbClr>
          </a:solidFill>
          <a:ln w="10160">
            <a:solidFill>
              <a:srgbClr val="7B8E98">
                <a:alpha val="42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96112" y="5468112"/>
            <a:ext cx="457200" cy="457200"/>
          </a:xfrm>
          <a:prstGeom prst="ellipse">
            <a:avLst/>
          </a:prstGeom>
          <a:solidFill>
            <a:srgbClr val="D6A746">
              <a:alpha val="2200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alphaModFix amt="5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40" y="555955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54315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Иван Петров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1463040" y="565099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 по работе с ключевыми клиентами</a:t>
            </a:r>
            <a:endParaRPr lang="en-US" sz="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63040" y="5971032"/>
            <a:ext cx="137160" cy="1371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73352" y="59527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ipetrov@calltouch.net</a:t>
            </a:r>
            <a:endParaRPr lang="en-US" sz="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36392" y="5971032"/>
            <a:ext cx="137160" cy="1371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46704" y="595274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+7 495 127 64 40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КОНТЕКСТ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МЫ УВИДЕЛИ ПО ПРОЕКТУ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1536192"/>
            <a:ext cx="10872216" cy="804672"/>
          </a:xfrm>
          <a:prstGeom prst="roundRect">
            <a:avLst>
              <a:gd name="adj" fmla="val 18182"/>
            </a:avLst>
          </a:prstGeom>
          <a:solidFill>
            <a:srgbClr val="17262D"/>
          </a:solidFill>
          <a:ln w="10160">
            <a:solidFill>
              <a:srgbClr val="D6A7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737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Клиенту важно видеть путь от рекламного источника до сделки и оперативно контролировать качество обращений.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56032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ГЛАВНАЯ ЗАДАЧА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944368" y="256032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Понять окупаемость рекламы и связать обращения с продажами в CRM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9808" y="296837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302323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ТРАФИК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944368" y="302323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Контекст, органика и социальные сети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49808" y="343128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348615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ОБЪЁМ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944368" y="348615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500 сессий в месяц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49808" y="389420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94906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КАНАЛЫ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44368" y="394906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Яндекс Директ, ВКонтакте, Авито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49808" y="435711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9808" y="441198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944368" y="441198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Битрикс24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49808" y="482003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9808" y="487489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ТЕКУЩИЙ КОЛЛТРЕКИНГ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944368" y="487489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используется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49808" y="528294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5337810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ИНТЕГРАЦИИ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944368" y="5337810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Яндекс Директ, ВК Реклама, Битрикс24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9808" y="5745861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" y="5800725"/>
            <a:ext cx="214884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ДОПОЛНИТЕЛЬНЫЕ ВВОДНЫЕ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2944368" y="5800725"/>
            <a:ext cx="8229600" cy="389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Пилотный запуск на одном направлении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49808" y="6208776"/>
            <a:ext cx="10424160" cy="0"/>
          </a:xfrm>
          <a:prstGeom prst="line">
            <a:avLst/>
          </a:prstGeom>
          <a:noFill/>
          <a:ln w="8890">
            <a:solidFill>
              <a:srgbClr val="31414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РЕШЕНИЕ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РЕКОМЕНДУЕМАЯ КОНФИГУРАЦИЯ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1572768"/>
            <a:ext cx="5355184" cy="4434840"/>
          </a:xfrm>
          <a:prstGeom prst="roundRect">
            <a:avLst>
              <a:gd name="adj" fmla="val 3299"/>
            </a:avLst>
          </a:prstGeom>
          <a:solidFill>
            <a:srgbClr val="1C282E"/>
          </a:solidFill>
          <a:ln w="10160">
            <a:solidFill>
              <a:srgbClr val="D6A7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82496"/>
            <a:ext cx="960120" cy="960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274320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ДИНАМИЧЕСКИЙ КОЛЛТРЕКИНГ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59536" y="3236976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D4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Определяет рекламный источник каждого звонка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59536" y="4169664"/>
            <a:ext cx="495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4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ЗАКРЫВАЕТ ЗАДАЧУ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59536" y="4462272"/>
            <a:ext cx="495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Определит рекламный источник каждого звонка и сохранит запись обращения.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78144" y="1572768"/>
            <a:ext cx="5355184" cy="4434840"/>
          </a:xfrm>
          <a:prstGeom prst="roundRect">
            <a:avLst>
              <a:gd name="adj" fmla="val 3299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2736" y="1682496"/>
            <a:ext cx="960120" cy="9601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79312" y="2743200"/>
            <a:ext cx="495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СКВОЗНАЯ АНАЛИТИКА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79312" y="3236976"/>
            <a:ext cx="495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8D4D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Показывает путь от рекламного клика до продажи и ДРР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379312" y="4169664"/>
            <a:ext cx="495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4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ЗАКРЫВАЕТ ЗАДАЧУ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379312" y="4462272"/>
            <a:ext cx="495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Свяжет расходы, обращения и сделки в CRM для расчёта ROI по каналам.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142027">
              <a:alpha val="8000"/>
            </a:srgbClr>
          </a:solidFill>
          <a:ln w="7620">
            <a:solidFill>
              <a:srgbClr val="142027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РАСЧЁТ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420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КОММЕРЧЕСКОЕ ПРЕДЛОЖЕНИЕ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" y="15361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СТАНДАРТ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91072" y="1499616"/>
            <a:ext cx="1024128" cy="274320"/>
          </a:xfrm>
          <a:prstGeom prst="roundRect">
            <a:avLst>
              <a:gd name="adj" fmla="val 46667"/>
            </a:avLst>
          </a:prstGeom>
          <a:solidFill>
            <a:srgbClr val="D6A746">
              <a:alpha val="9200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64224" y="1527048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РЕКОМЕНДУЕМ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58368" y="1975104"/>
            <a:ext cx="6656832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7824" y="2139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10" kern="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СОСТАВ ТАРИФА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407408" y="213969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ПОЛНАЯ СТОИМОСТЬ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888736" y="21396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 СКИДКОЙ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77824" y="2587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 и аналитика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07408" y="258775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31 250 ₽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88736" y="258775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25 000 ₽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7824" y="2898648"/>
            <a:ext cx="6217920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24" y="3063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Услуги связи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07408" y="306324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6 250 ₽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888736" y="306324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5 000 ₽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77824" y="3374136"/>
            <a:ext cx="6217920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3538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Настройка интеграции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407408" y="353872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10 000 ₽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888736" y="35387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10 000 ₽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77824" y="3849624"/>
            <a:ext cx="6217920" cy="0"/>
          </a:xfrm>
          <a:prstGeom prst="line">
            <a:avLst/>
          </a:prstGeom>
          <a:noFill/>
          <a:ln w="7620">
            <a:solidFill>
              <a:srgbClr val="DCE4E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62672" y="1975104"/>
            <a:ext cx="3867912" cy="2743200"/>
          </a:xfrm>
          <a:prstGeom prst="roundRect">
            <a:avLst>
              <a:gd name="adj" fmla="val 5333"/>
            </a:avLst>
          </a:prstGeom>
          <a:solidFill>
            <a:srgbClr val="EAF4F7"/>
          </a:solidFill>
          <a:ln w="10160">
            <a:solidFill>
              <a:srgbClr val="D6A74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00416" y="2157984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10" kern="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ИТОГО ПО ТАРИФУ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900416" y="2596896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ЕЖЕМЕСЯЧНО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00416" y="2834640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30 000 ₽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7900416" y="3374136"/>
            <a:ext cx="3392424" cy="0"/>
          </a:xfrm>
          <a:prstGeom prst="line">
            <a:avLst/>
          </a:prstGeom>
          <a:noFill/>
          <a:ln w="8890">
            <a:solidFill>
              <a:srgbClr val="D6A746">
                <a:alpha val="38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00416" y="3584448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РАЗОВО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900416" y="382219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420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10 000 ₽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7900416" y="4370832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Экономия в первый месяц · 7 500 ₽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58368" y="60533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1808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 месячной абонентской плате за связь включено 300 минут переадресации. Счета выставляются по завершении календарного месяца. Мобильный/городской — 2,40 ₽/мин; SIP — бесплатно; входящие на 8800 — 3,60 ₽/мин; исходящие с 8800 — 2,40 ₽/мин.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СЦЕНАРИЙ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КАК ЭТО БУДЕТ РАБОТАТЬ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8368" y="157276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путь клиента — от рекламы до продажи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190195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B6C4C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 фиксирует источник обращения, CRM хранит сделку, аналитика связывает результат с расходами.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" y="24323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spc="15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ЭТО РАБОТАЕТ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333701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173626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013552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853477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693402" y="3401568"/>
            <a:ext cx="164592" cy="0"/>
          </a:xfrm>
          <a:prstGeom prst="line">
            <a:avLst/>
          </a:prstGeom>
          <a:noFill/>
          <a:ln w="19050">
            <a:solidFill>
              <a:srgbClr val="D6A74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58368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19262C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6384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367" y="2887767"/>
            <a:ext cx="149779" cy="14977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49653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786384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Реклама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786384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Клиент приходит из онлайн- или офлайн-канала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2498293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20333B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626309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70292" y="2887767"/>
            <a:ext cx="149779" cy="149779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89578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2626309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Коллтрекинг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626309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Фиксирует источник до кампании и ключевого слова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4338218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19262C"/>
          </a:solidFill>
          <a:ln w="10160">
            <a:solidFill>
              <a:srgbClr val="D6A746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466234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10217" y="2887767"/>
            <a:ext cx="149779" cy="149779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629504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4466234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Обращение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466234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Звонок и данные клиента сохраняются автоматически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6178144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20333B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306160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142" y="2887767"/>
            <a:ext cx="149779" cy="149779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469429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6306160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CRM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6306160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Сделка и выручка возвращаются из CRM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8018069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19262C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146085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0067" y="2887767"/>
            <a:ext cx="149779" cy="149779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309354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8146085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Аналитика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8146085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Расходы и продажи объединяются в отчёте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9857994" y="2706624"/>
            <a:ext cx="1675333" cy="1234440"/>
          </a:xfrm>
          <a:prstGeom prst="roundRect">
            <a:avLst>
              <a:gd name="adj" fmla="val 11852"/>
            </a:avLst>
          </a:prstGeom>
          <a:solidFill>
            <a:srgbClr val="20333B"/>
          </a:solidFill>
          <a:ln w="10160">
            <a:solidFill>
              <a:srgbClr val="314149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9986010" y="2843784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29993" y="2887767"/>
            <a:ext cx="149779" cy="149779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11149279" y="2852928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9986010" y="3264408"/>
            <a:ext cx="14193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ROI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9986010" y="3584448"/>
            <a:ext cx="141930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Видна окупаемость каждого рекламного канала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658368" y="42245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5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ЧТО ПОЛУЧИТЕ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658368" y="4535424"/>
            <a:ext cx="3515258" cy="1316736"/>
          </a:xfrm>
          <a:prstGeom prst="roundRect">
            <a:avLst>
              <a:gd name="adj" fmla="val 11111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841248" y="47183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1997" y="4769053"/>
            <a:ext cx="172822" cy="172822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1225296" y="4709160"/>
            <a:ext cx="2765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путь клиента</a:t>
            </a:r>
            <a:endParaRPr lang="en-US" sz="1050" dirty="0"/>
          </a:p>
        </p:txBody>
      </p:sp>
      <p:sp>
        <p:nvSpPr>
          <p:cNvPr id="57" name="Text 47"/>
          <p:cNvSpPr/>
          <p:nvPr/>
        </p:nvSpPr>
        <p:spPr>
          <a:xfrm>
            <a:off x="841248" y="5285232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 первого рекламного контакта до сделки и выручки</a:t>
            </a:r>
            <a:endParaRPr lang="en-US" sz="800" dirty="0"/>
          </a:p>
        </p:txBody>
      </p:sp>
      <p:sp>
        <p:nvSpPr>
          <p:cNvPr id="58" name="Shape 48"/>
          <p:cNvSpPr/>
          <p:nvPr/>
        </p:nvSpPr>
        <p:spPr>
          <a:xfrm>
            <a:off x="4338218" y="4535424"/>
            <a:ext cx="3515258" cy="1316736"/>
          </a:xfrm>
          <a:prstGeom prst="roundRect">
            <a:avLst>
              <a:gd name="adj" fmla="val 11111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4521098" y="47183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71848" y="4769053"/>
            <a:ext cx="172822" cy="172822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4905146" y="4709160"/>
            <a:ext cx="2765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ROI по каналам</a:t>
            </a:r>
            <a:endParaRPr lang="en-US" sz="1050" dirty="0"/>
          </a:p>
        </p:txBody>
      </p:sp>
      <p:sp>
        <p:nvSpPr>
          <p:cNvPr id="62" name="Text 51"/>
          <p:cNvSpPr/>
          <p:nvPr/>
        </p:nvSpPr>
        <p:spPr>
          <a:xfrm>
            <a:off x="4521098" y="5285232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Понятно, какие источники приносят продажи, а не только заявки</a:t>
            </a:r>
            <a:endParaRPr lang="en-US" sz="800" dirty="0"/>
          </a:p>
        </p:txBody>
      </p:sp>
      <p:sp>
        <p:nvSpPr>
          <p:cNvPr id="63" name="Shape 52"/>
          <p:cNvSpPr/>
          <p:nvPr/>
        </p:nvSpPr>
        <p:spPr>
          <a:xfrm>
            <a:off x="8018069" y="4535424"/>
            <a:ext cx="3515258" cy="1316736"/>
          </a:xfrm>
          <a:prstGeom prst="roundRect">
            <a:avLst>
              <a:gd name="adj" fmla="val 11111"/>
            </a:avLst>
          </a:prstGeom>
          <a:solidFill>
            <a:srgbClr val="1C282E"/>
          </a:solidFill>
          <a:ln w="10160">
            <a:solidFill>
              <a:srgbClr val="2B3940"/>
            </a:solidFill>
            <a:prstDash val="solid"/>
          </a:ln>
        </p:spPr>
      </p:sp>
      <p:sp>
        <p:nvSpPr>
          <p:cNvPr id="64" name="Shape 53"/>
          <p:cNvSpPr/>
          <p:nvPr/>
        </p:nvSpPr>
        <p:spPr>
          <a:xfrm>
            <a:off x="8200949" y="471830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51698" y="4769053"/>
            <a:ext cx="172822" cy="172822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8584997" y="4709160"/>
            <a:ext cx="2765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Единое окно</a:t>
            </a:r>
            <a:endParaRPr lang="en-US" sz="1050" dirty="0"/>
          </a:p>
        </p:txBody>
      </p:sp>
      <p:sp>
        <p:nvSpPr>
          <p:cNvPr id="67" name="Text 55"/>
          <p:cNvSpPr/>
          <p:nvPr/>
        </p:nvSpPr>
        <p:spPr>
          <a:xfrm>
            <a:off x="8200949" y="5285232"/>
            <a:ext cx="31494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EBEC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Маркетинг и продажи работают с одними данными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4" name="Shape 1">
            <a:hlinkClick r:id="rId3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142027">
              <a:alpha val="8000"/>
            </a:srgbClr>
          </a:solidFill>
          <a:ln w="7620">
            <a:solidFill>
              <a:srgbClr val="142027">
                <a:alpha val="18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8778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spc="180" kern="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РЕЗУЛЬТАТЫ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" y="1042416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14202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КЕЙСЫ ПОХОЖИХ КЛИЕНТОВ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58368" y="1609344"/>
            <a:ext cx="3515258" cy="4133088"/>
          </a:xfrm>
          <a:prstGeom prst="roundRect">
            <a:avLst>
              <a:gd name="adj" fmla="val 4162"/>
            </a:avLst>
          </a:prstGeom>
          <a:solidFill>
            <a:srgbClr val="EAF4F7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1828800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C282E"/>
          </a:solidFill>
          <a:ln w="12700">
            <a:solidFill>
              <a:srgbClr val="1C282E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883664"/>
            <a:ext cx="438912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1865376"/>
            <a:ext cx="2289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JETOUR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96112" y="2395728"/>
            <a:ext cx="30397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3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Направили силы на обработку целевых заявок и получили больше сделок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96112" y="3273552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×74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96112" y="3630168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лидов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96112" y="39319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−30%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96112" y="4288536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стоимость привлечения (CPL)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96112" y="4590288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 65% до 0%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896112" y="4946904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фрод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896112" y="5266944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6A746"/>
          </a:solidFill>
          <a:ln>
            <a:solidFill>
              <a:srgbClr val="D6A746">
                <a:alpha val="0"/>
              </a:srgbClr>
            </a:solidFill>
          </a:ln>
        </p:spPr>
        <p:txBody>
          <a:bodyPr wrap="none" lIns="381" tIns="635" rIns="635" bIns="381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u="none" dirty="0">
                <a:solidFill>
                  <a:srgbClr val="142027"/>
                </a:solidFill>
                <a:uFill>
                  <a:solidFill>
                    <a:srgbClr val="142027"/>
                  </a:solidFill>
                </a:u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Подробнее →</a:t>
            </a:r>
            <a:endParaRPr lang="en-US" sz="800" dirty="0"/>
          </a:p>
        </p:txBody>
      </p:sp>
      <p:sp>
        <p:nvSpPr>
          <p:cNvPr id="20" name="Shape 16">
            <a:hlinkClick r:id="rId5" tooltip=""/>
          </p:cNvPr>
          <p:cNvSpPr/>
          <p:nvPr/>
        </p:nvSpPr>
        <p:spPr>
          <a:xfrm>
            <a:off x="896112" y="5266944"/>
            <a:ext cx="1353312" cy="310896"/>
          </a:xfrm>
          <a:prstGeom prst="roundRect">
            <a:avLst>
              <a:gd name="adj" fmla="val 29412"/>
            </a:avLst>
          </a:prstGeom>
          <a:solidFill>
            <a:srgbClr val="D6A746">
              <a:alpha val="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38218" y="1609344"/>
            <a:ext cx="3515258" cy="4133088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75962" y="1828800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C282E"/>
          </a:solidFill>
          <a:ln w="12700">
            <a:solidFill>
              <a:srgbClr val="1C282E">
                <a:alpha val="0"/>
              </a:srgbClr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6546" y="1883664"/>
            <a:ext cx="438912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25770" y="1865376"/>
            <a:ext cx="2289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СЗ ДИККИТ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5962" y="2395728"/>
            <a:ext cx="30397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3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Интегрировали MacroCRM и Calltouch, чтобы снизить стоимость лида и повысить конверсию застройщика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575962" y="3273552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+20%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4575962" y="3630168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конверсия в лид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575962" y="39319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−15%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4575962" y="4288536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расходы на рекламу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4575962" y="4590288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−15–20%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4575962" y="4946904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стоимость привлечения (CPL)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575962" y="5266944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6A746"/>
          </a:solidFill>
          <a:ln>
            <a:solidFill>
              <a:srgbClr val="D6A746">
                <a:alpha val="0"/>
              </a:srgbClr>
            </a:solidFill>
          </a:ln>
        </p:spPr>
        <p:txBody>
          <a:bodyPr wrap="none" lIns="381" tIns="635" rIns="635" bIns="381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u="none" dirty="0">
                <a:solidFill>
                  <a:srgbClr val="142027"/>
                </a:solidFill>
                <a:uFill>
                  <a:solidFill>
                    <a:srgbClr val="142027"/>
                  </a:solidFill>
                </a:u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Подробнее →</a:t>
            </a:r>
            <a:endParaRPr lang="en-US" sz="800" dirty="0"/>
          </a:p>
        </p:txBody>
      </p:sp>
      <p:sp>
        <p:nvSpPr>
          <p:cNvPr id="33" name="Shape 28">
            <a:hlinkClick r:id="rId7" tooltip=""/>
          </p:cNvPr>
          <p:cNvSpPr/>
          <p:nvPr/>
        </p:nvSpPr>
        <p:spPr>
          <a:xfrm>
            <a:off x="4575962" y="5266944"/>
            <a:ext cx="1353312" cy="310896"/>
          </a:xfrm>
          <a:prstGeom prst="roundRect">
            <a:avLst>
              <a:gd name="adj" fmla="val 29412"/>
            </a:avLst>
          </a:prstGeom>
          <a:solidFill>
            <a:srgbClr val="D6A746">
              <a:alpha val="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018069" y="1609344"/>
            <a:ext cx="3515258" cy="4133088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 w="10160">
            <a:solidFill>
              <a:srgbClr val="DCE4E7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255813" y="1828800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1C282E"/>
          </a:solidFill>
          <a:ln w="12700">
            <a:solidFill>
              <a:srgbClr val="1C282E">
                <a:alpha val="0"/>
              </a:srgbClr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5971" y="1883664"/>
            <a:ext cx="519764" cy="21945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005621" y="1865376"/>
            <a:ext cx="22899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АМ МЕДИКА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8255813" y="2395728"/>
            <a:ext cx="30397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263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Клиника привлекает лиды дешевле рынка с помощью системного маркетинга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8255813" y="3273552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 13 раз ниже</a:t>
            </a:r>
            <a:endParaRPr lang="en-US" sz="2400" dirty="0"/>
          </a:p>
        </p:txBody>
      </p:sp>
      <p:sp>
        <p:nvSpPr>
          <p:cNvPr id="40" name="Text 34"/>
          <p:cNvSpPr/>
          <p:nvPr/>
        </p:nvSpPr>
        <p:spPr>
          <a:xfrm>
            <a:off x="8255813" y="3630168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стоимость лида, чем по рынку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8255813" y="3931920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+57%</a:t>
            </a:r>
            <a:endParaRPr lang="en-US" sz="2400" dirty="0"/>
          </a:p>
        </p:txBody>
      </p:sp>
      <p:sp>
        <p:nvSpPr>
          <p:cNvPr id="42" name="Text 36"/>
          <p:cNvSpPr/>
          <p:nvPr/>
        </p:nvSpPr>
        <p:spPr>
          <a:xfrm>
            <a:off x="8255813" y="4288536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узнаваемость бренда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8255813" y="4590288"/>
            <a:ext cx="3039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D6A74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+285%</a:t>
            </a:r>
            <a:endParaRPr lang="en-US" sz="2400" dirty="0"/>
          </a:p>
        </p:txBody>
      </p:sp>
      <p:sp>
        <p:nvSpPr>
          <p:cNvPr id="44" name="Text 38"/>
          <p:cNvSpPr/>
          <p:nvPr/>
        </p:nvSpPr>
        <p:spPr>
          <a:xfrm>
            <a:off x="8255813" y="4946904"/>
            <a:ext cx="30397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4202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лидов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8255813" y="5266944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D6A746"/>
          </a:solidFill>
          <a:ln>
            <a:solidFill>
              <a:srgbClr val="D6A746">
                <a:alpha val="0"/>
              </a:srgbClr>
            </a:solidFill>
          </a:ln>
        </p:spPr>
        <p:txBody>
          <a:bodyPr wrap="none" lIns="381" tIns="635" rIns="635" bIns="381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b="1" u="none" dirty="0">
                <a:solidFill>
                  <a:srgbClr val="142027"/>
                </a:solidFill>
                <a:uFill>
                  <a:solidFill>
                    <a:srgbClr val="142027"/>
                  </a:solidFill>
                </a:u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Подробнее →</a:t>
            </a:r>
            <a:endParaRPr lang="en-US" sz="800" dirty="0"/>
          </a:p>
        </p:txBody>
      </p:sp>
      <p:sp>
        <p:nvSpPr>
          <p:cNvPr id="46" name="Shape 40">
            <a:hlinkClick r:id="rId9" tooltip=""/>
          </p:cNvPr>
          <p:cNvSpPr/>
          <p:nvPr/>
        </p:nvSpPr>
        <p:spPr>
          <a:xfrm>
            <a:off x="8255813" y="5266944"/>
            <a:ext cx="1353312" cy="310896"/>
          </a:xfrm>
          <a:prstGeom prst="roundRect">
            <a:avLst>
              <a:gd name="adj" fmla="val 29412"/>
            </a:avLst>
          </a:prstGeom>
          <a:solidFill>
            <a:srgbClr val="D6A746">
              <a:alpha val="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2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398013"/>
            <a:ext cx="1389888" cy="2463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79792" y="42976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6A74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</a:t>
            </a:r>
            <a:endParaRPr lang="en-US" sz="800" dirty="0"/>
          </a:p>
        </p:txBody>
      </p:sp>
      <p:sp>
        <p:nvSpPr>
          <p:cNvPr id="5" name="Shape 1">
            <a:hlinkClick r:id="rId4" tooltip=""/>
          </p:cNvPr>
          <p:cNvSpPr/>
          <p:nvPr/>
        </p:nvSpPr>
        <p:spPr>
          <a:xfrm>
            <a:off x="10314432" y="329184"/>
            <a:ext cx="1216152" cy="384048"/>
          </a:xfrm>
          <a:prstGeom prst="roundRect">
            <a:avLst>
              <a:gd name="adj" fmla="val 33333"/>
            </a:avLst>
          </a:prstGeom>
          <a:solidFill>
            <a:srgbClr val="FFFFFF">
              <a:alpha val="12000"/>
            </a:srgbClr>
          </a:solidFill>
          <a:ln w="762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0405872" y="42976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exlantix.ru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694944" y="18288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ОБСУДИМ ЗАПУСК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13232" y="27066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Решения Calltouch для EXLANTIX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858000" y="1901952"/>
            <a:ext cx="4069080" cy="1664208"/>
          </a:xfrm>
          <a:prstGeom prst="roundRect">
            <a:avLst>
              <a:gd name="adj" fmla="val 8791"/>
            </a:avLst>
          </a:prstGeom>
          <a:solidFill>
            <a:srgbClr val="222B35">
              <a:alpha val="66000"/>
            </a:srgbClr>
          </a:solidFill>
          <a:ln w="10160">
            <a:solidFill>
              <a:srgbClr val="7B8E98">
                <a:alpha val="42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68896" y="2176272"/>
            <a:ext cx="603504" cy="603504"/>
          </a:xfrm>
          <a:prstGeom prst="ellipse">
            <a:avLst/>
          </a:prstGeom>
          <a:solidFill>
            <a:srgbClr val="D6A746">
              <a:alpha val="22000"/>
            </a:srgbClr>
          </a:solidFill>
          <a:ln w="12700">
            <a:solidFill>
              <a:srgbClr val="D6A746">
                <a:alpha val="0"/>
              </a:srgbClr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alphaModFix amt="52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3737" y="2296973"/>
            <a:ext cx="313822" cy="31382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6992" y="2148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Иван Петров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7936992" y="2450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93A4A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Менеджер по работе с ключевыми клиентами</a:t>
            </a:r>
            <a:endParaRPr lang="en-US" sz="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6992" y="2820924"/>
            <a:ext cx="155448" cy="1554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83880" y="2798064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ipetrov@calltouch.net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6992" y="3076956"/>
            <a:ext cx="155448" cy="1554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83880" y="305409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+7 495 127 64 40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Unbound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Calltouch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Calltouch — EXLANTIX</dc:title>
  <dc:subject>Коммерческое предложение для EXLANTIX</dc:subject>
  <dc:creator>Calltouch</dc:creator>
  <cp:lastModifiedBy>Calltouch</cp:lastModifiedBy>
  <cp:revision>1</cp:revision>
  <dcterms:created xsi:type="dcterms:W3CDTF">2026-08-12T13:12:09Z</dcterms:created>
  <dcterms:modified xsi:type="dcterms:W3CDTF">2026-08-12T13:12:09Z</dcterms:modified>
</cp:coreProperties>
</file>