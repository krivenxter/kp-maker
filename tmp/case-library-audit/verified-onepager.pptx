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6" Type="http://schemas.openxmlformats.org/officeDocument/2006/relationships/hyperlink" Target="https://www.calltouch.ru/blog/uvelichili-kolichestvo-kachestvennyh-lidov-v-74-raza-i-snizili-cpl-na-30-kejs-importera-jetour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5" Type="http://schemas.openxmlformats.org/officeDocument/2006/relationships/image" Target="../media/image-1-4.png"/><Relationship Id="rId6" Type="http://schemas.openxmlformats.org/officeDocument/2006/relationships/image" Target="../media/image-1-5.sv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svg"/><Relationship Id="rId11" Type="http://schemas.openxmlformats.org/officeDocument/2006/relationships/image" Target="../media/image-1-10.png"/><Relationship Id="rId12" Type="http://schemas.openxmlformats.org/officeDocument/2006/relationships/image" Target="../media/image-1-11.svg"/><Relationship Id="rId13" Type="http://schemas.openxmlformats.org/officeDocument/2006/relationships/image" Target="../media/image-1-12.png"/><Relationship Id="rId14" Type="http://schemas.openxmlformats.org/officeDocument/2006/relationships/image" Target="../media/image-1-13.svg"/><Relationship Id="rId15" Type="http://schemas.openxmlformats.org/officeDocument/2006/relationships/image" Target="../media/image-1-14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58368" y="9875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58368" y="1243584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РЕШЕНИЕ ДЛЯ EXLANTIX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58368" y="1847088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0E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сквозная аналитика для контроля маркетинга и продаж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735824" y="1024128"/>
            <a:ext cx="3794760" cy="987552"/>
          </a:xfrm>
          <a:prstGeom prst="roundRect">
            <a:avLst>
              <a:gd name="adj" fmla="val 14815"/>
            </a:avLst>
          </a:prstGeom>
          <a:solidFill>
            <a:srgbClr val="19272D">
              <a:alpha val="84000"/>
            </a:srgbClr>
          </a:solidFill>
          <a:ln w="10160">
            <a:solidFill>
              <a:srgbClr val="32434B">
                <a:alpha val="82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46136" y="1325880"/>
            <a:ext cx="384048" cy="384048"/>
          </a:xfrm>
          <a:prstGeom prst="ellipse">
            <a:avLst/>
          </a:prstGeom>
          <a:solidFill>
            <a:srgbClr val="D6A746">
              <a:alpha val="24000"/>
            </a:srgbClr>
          </a:solidFill>
          <a:ln w="10160">
            <a:solidFill>
              <a:srgbClr val="D6A74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7576" y="139903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85632" y="12435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8485632" y="14721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0067544" y="1344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7735824" y="2487168"/>
            <a:ext cx="3794760" cy="1874520"/>
          </a:xfrm>
          <a:prstGeom prst="roundRect">
            <a:avLst>
              <a:gd name="adj" fmla="val 7805"/>
            </a:avLst>
          </a:prstGeom>
          <a:solidFill>
            <a:srgbClr val="19272D">
              <a:alpha val="84000"/>
            </a:srgbClr>
          </a:solidFill>
          <a:ln w="10160">
            <a:solidFill>
              <a:srgbClr val="D6A746">
                <a:alpha val="82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936992" y="265176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13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КОММЕРЧЕСКИЕ УСЛОВИЯ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936992" y="294436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25 000 ₽ · Связь 5 000 ₽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936992" y="317296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Полная 37 500 ₽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936992" y="3383280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30 000 ₽ / МЕС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936992" y="3657600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Разово: 10 000 ₽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30352" y="2487168"/>
            <a:ext cx="6912864" cy="1874520"/>
          </a:xfrm>
          <a:prstGeom prst="roundRect">
            <a:avLst>
              <a:gd name="adj" fmla="val 7805"/>
            </a:avLst>
          </a:prstGeom>
          <a:solidFill>
            <a:srgbClr val="19272D">
              <a:alpha val="84000"/>
            </a:srgbClr>
          </a:solidFill>
          <a:ln w="10160">
            <a:solidFill>
              <a:srgbClr val="32434B">
                <a:alpha val="82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</a:t>
            </a:r>
            <a:endParaRPr lang="en-US" sz="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2916936"/>
            <a:ext cx="658368" cy="6583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44752" y="290779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Динамический коллтрекинг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444752" y="3154680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Определяет рекламный источник каждого звонка</a:t>
            </a:r>
            <a:endParaRPr lang="en-US" sz="8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5928" y="2916936"/>
            <a:ext cx="658368" cy="6583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82312" y="290779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Сквозная аналитика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4782312" y="3154680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Показывает путь от рекламного клика до продажи и ДРР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530352" y="4553712"/>
            <a:ext cx="6912864" cy="1417320"/>
          </a:xfrm>
          <a:prstGeom prst="roundRect">
            <a:avLst>
              <a:gd name="adj" fmla="val 10323"/>
            </a:avLst>
          </a:prstGeom>
          <a:solidFill>
            <a:srgbClr val="19272D">
              <a:alpha val="84000"/>
            </a:srgbClr>
          </a:solidFill>
          <a:ln w="10160">
            <a:solidFill>
              <a:srgbClr val="32434B">
                <a:alpha val="82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58368" y="4718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ПОЛУЧИТЕ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658368" y="5065776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201" y="5099609"/>
            <a:ext cx="115214" cy="11521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50976" y="50474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Точная атрибуция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950976" y="5303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 звонка виден до канала, кампании и ключевого слова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2871216" y="5065776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05049" y="5099609"/>
            <a:ext cx="115214" cy="11521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163824" y="50474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Быстрый запуск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3163824" y="5303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Настройка от одного дня и более 100 бесплатных интеграций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5084064" y="5065776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17897" y="5099609"/>
            <a:ext cx="115214" cy="11521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76672" y="50474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Весь путь клиента</a:t>
            </a:r>
            <a:endParaRPr lang="en-US" sz="800" dirty="0"/>
          </a:p>
        </p:txBody>
      </p:sp>
      <p:sp>
        <p:nvSpPr>
          <p:cNvPr id="43" name="Text 33"/>
          <p:cNvSpPr/>
          <p:nvPr/>
        </p:nvSpPr>
        <p:spPr>
          <a:xfrm>
            <a:off x="5376672" y="5303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Расходы, обращения, сделки и выручка связаны в одном отчёте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7735824" y="4553712"/>
            <a:ext cx="3794760" cy="1417320"/>
          </a:xfrm>
          <a:prstGeom prst="roundRect">
            <a:avLst>
              <a:gd name="adj" fmla="val 10323"/>
            </a:avLst>
          </a:prstGeom>
          <a:solidFill>
            <a:srgbClr val="19272D">
              <a:alpha val="84000"/>
            </a:srgbClr>
          </a:solidFill>
          <a:ln w="10160">
            <a:solidFill>
              <a:srgbClr val="32434B">
                <a:alpha val="82000"/>
              </a:srgbClr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936992" y="4709160"/>
            <a:ext cx="3392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2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РЕЛЕВАНТНЫЙ КЕЙС</a:t>
            </a:r>
            <a:endParaRPr lang="en-US" sz="8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8432" y="4946904"/>
            <a:ext cx="402336" cy="20116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631936" y="49469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JETOUR</a:t>
            </a: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7936992" y="5193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Направили силы на обработку целевых заявок и получили больше сделок</a:t>
            </a:r>
            <a:endParaRPr lang="en-US" sz="800" dirty="0"/>
          </a:p>
        </p:txBody>
      </p:sp>
      <p:sp>
        <p:nvSpPr>
          <p:cNvPr id="49" name="Text 38"/>
          <p:cNvSpPr/>
          <p:nvPr/>
        </p:nvSpPr>
        <p:spPr>
          <a:xfrm>
            <a:off x="10021824" y="4974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×74</a:t>
            </a:r>
            <a:endParaRPr lang="en-US" sz="1300" dirty="0"/>
          </a:p>
        </p:txBody>
      </p:sp>
      <p:sp>
        <p:nvSpPr>
          <p:cNvPr id="50" name="Text 39"/>
          <p:cNvSpPr/>
          <p:nvPr/>
        </p:nvSpPr>
        <p:spPr>
          <a:xfrm>
            <a:off x="9747504" y="5394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10232136" y="4700016"/>
            <a:ext cx="1042416" cy="219456"/>
          </a:xfrm>
          <a:prstGeom prst="roundRect">
            <a:avLst>
              <a:gd name="adj" fmla="val 33333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254" tIns="381" rIns="381" bIns="254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52" name="Shape 41">
            <a:hlinkClick r:id="rId16" tooltip=""/>
          </p:cNvPr>
          <p:cNvSpPr/>
          <p:nvPr/>
        </p:nvSpPr>
        <p:spPr>
          <a:xfrm>
            <a:off x="10232136" y="4700016"/>
            <a:ext cx="1042416" cy="219456"/>
          </a:xfrm>
          <a:prstGeom prst="roundRect">
            <a:avLst>
              <a:gd name="adj" fmla="val 41667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58368" y="6675120"/>
            <a:ext cx="6720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— без НДС. Услуги связи — с НДС. Стоимость сверх включенного пакета рассчитывается отдельно.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2026-08-12T12:41:40Z</dcterms:created>
  <dcterms:modified xsi:type="dcterms:W3CDTF">2026-08-12T12:41:40Z</dcterms:modified>
</cp:coreProperties>
</file>